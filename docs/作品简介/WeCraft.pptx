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4"/>
        <p:guide pos="3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横式标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780" y="134620"/>
            <a:ext cx="3208655" cy="87503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64210" y="151765"/>
            <a:ext cx="5732780" cy="857885"/>
            <a:chOff x="1046" y="392"/>
            <a:chExt cx="9028" cy="1351"/>
          </a:xfrm>
        </p:grpSpPr>
        <p:pic>
          <p:nvPicPr>
            <p:cNvPr id="5" name="图片 4" descr="wecraft-ai-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" y="392"/>
              <a:ext cx="1351" cy="1351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494" y="622"/>
              <a:ext cx="7580" cy="71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buClrTx/>
                <a:buSzTx/>
                <a:buFontTx/>
              </a:pPr>
              <a:r>
                <a:rPr lang="en-US" altLang="zh-CN" sz="3200" b="1">
                  <a:latin typeface="Arial Black" panose="020B0A04020102020204" charset="0"/>
                  <a:cs typeface="Arial Black" panose="020B0A04020102020204" charset="0"/>
                </a:rPr>
                <a:t>WeCraft AI</a:t>
              </a:r>
              <a:endParaRPr lang="en-US" altLang="zh-CN" sz="3200" b="1">
                <a:latin typeface="Arial Black" panose="020B0A04020102020204" charset="0"/>
                <a:cs typeface="Arial Black" panose="020B0A04020102020204" charset="0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45" y="1389380"/>
            <a:ext cx="4684395" cy="316230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664210" y="1103630"/>
            <a:ext cx="10880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852795" y="1711960"/>
            <a:ext cx="5407660" cy="1258570"/>
          </a:xfrm>
          <a:prstGeom prst="rect">
            <a:avLst/>
          </a:prstGeom>
        </p:spPr>
        <p:txBody>
          <a:bodyPr>
            <a:noAutofit/>
          </a:bodyPr>
          <a:p>
            <a:pPr marL="0" indent="457200"/>
            <a:r>
              <a:rPr lang="en-US" altLang="zh-CN" sz="1400" b="0" i="0">
                <a:solidFill>
                  <a:srgbClr val="1A1C1F"/>
                </a:solidFill>
                <a:latin typeface="+mn-ea"/>
                <a:cs typeface="+mn-ea"/>
              </a:rPr>
              <a:t>WeCraft AI </a:t>
            </a:r>
            <a:r>
              <a:rPr lang="zh-CN" altLang="en-US" sz="1400" b="0" i="0">
                <a:solidFill>
                  <a:srgbClr val="1A1C1F"/>
                </a:solidFill>
                <a:latin typeface="+mn-ea"/>
                <a:cs typeface="+mn-ea"/>
              </a:rPr>
              <a:t>是一款基于 </a:t>
            </a:r>
            <a:r>
              <a:rPr lang="en-US" altLang="zh-CN" sz="1400" b="0" i="0">
                <a:solidFill>
                  <a:srgbClr val="1A1C1F"/>
                </a:solidFill>
                <a:latin typeface="+mn-ea"/>
                <a:cs typeface="+mn-ea"/>
              </a:rPr>
              <a:t>CrewAI </a:t>
            </a:r>
            <a:r>
              <a:rPr lang="zh-CN" altLang="en-US" sz="1400" b="0" i="0">
                <a:solidFill>
                  <a:srgbClr val="1A1C1F"/>
                </a:solidFill>
                <a:latin typeface="+mn-ea"/>
                <a:cs typeface="+mn-ea"/>
              </a:rPr>
              <a:t>与 </a:t>
            </a:r>
            <a:r>
              <a:rPr lang="en-US" altLang="zh-CN" sz="1400" b="0" i="0">
                <a:solidFill>
                  <a:srgbClr val="1A1C1F"/>
                </a:solidFill>
                <a:latin typeface="+mn-ea"/>
                <a:cs typeface="+mn-ea"/>
              </a:rPr>
              <a:t>DeepSeek </a:t>
            </a:r>
            <a:r>
              <a:rPr lang="zh-CN" altLang="en-US" sz="1400" b="0" i="0">
                <a:solidFill>
                  <a:srgbClr val="1A1C1F"/>
                </a:solidFill>
                <a:latin typeface="+mn-ea"/>
                <a:cs typeface="+mn-ea"/>
              </a:rPr>
              <a:t>的微信小程序智能生成平台。作品面向校园服务、课程设计和竞赛原型开发场景，用户只需用自然语言描述小程序想法，系统即可通过多 </a:t>
            </a:r>
            <a:r>
              <a:rPr lang="en-US" altLang="zh-CN" sz="1400" b="0" i="0">
                <a:solidFill>
                  <a:srgbClr val="1A1C1F"/>
                </a:solidFill>
                <a:latin typeface="+mn-ea"/>
                <a:cs typeface="+mn-ea"/>
              </a:rPr>
              <a:t>Agent </a:t>
            </a:r>
            <a:r>
              <a:rPr lang="zh-CN" altLang="en-US" sz="1400" b="0" i="0">
                <a:solidFill>
                  <a:srgbClr val="1A1C1F"/>
                </a:solidFill>
                <a:latin typeface="+mn-ea"/>
                <a:cs typeface="+mn-ea"/>
              </a:rPr>
              <a:t>协作完成需求澄清、方案整理、架构设计、文件规划、页面生成与一致性校验，最终输出可导入微信开发者工具的小程序工程文件</a:t>
            </a:r>
            <a:r>
              <a:rPr lang="zh-CN" altLang="en-US" sz="1600" b="0" i="0">
                <a:solidFill>
                  <a:srgbClr val="1A1C1F"/>
                </a:solidFill>
                <a:latin typeface="+mn-ea"/>
                <a:cs typeface="+mn-ea"/>
              </a:rPr>
              <a:t>。</a:t>
            </a:r>
            <a:endParaRPr lang="zh-CN" altLang="en-US" sz="1600" b="0" i="0">
              <a:solidFill>
                <a:srgbClr val="1A1C1F"/>
              </a:solidFill>
              <a:latin typeface="+mn-ea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72455" y="1343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作品简介：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4" name="图片 13" descr="ChatGPT Image 2026年5月7日 21_22_36"/>
          <p:cNvPicPr>
            <a:picLocks noChangeAspect="1"/>
          </p:cNvPicPr>
          <p:nvPr/>
        </p:nvPicPr>
        <p:blipFill>
          <a:blip r:embed="rId5"/>
          <a:srcRect b="30708"/>
          <a:stretch>
            <a:fillRect/>
          </a:stretch>
        </p:blipFill>
        <p:spPr>
          <a:xfrm>
            <a:off x="205740" y="5187950"/>
            <a:ext cx="5812790" cy="13709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70205" y="4665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技术路线：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70305" y="923608"/>
            <a:ext cx="5080000" cy="93726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b="0" i="0">
              <a:solidFill>
                <a:srgbClr val="1A1C1F"/>
              </a:solidFill>
              <a:latin typeface="+mn-ea"/>
              <a:cs typeface="+mn-ea"/>
            </a:endParaRPr>
          </a:p>
          <a:p>
            <a:pPr marL="0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b="0" i="0">
              <a:solidFill>
                <a:srgbClr val="1A1C1F"/>
              </a:solidFill>
              <a:latin typeface="+mn-ea"/>
              <a:cs typeface="+mn-ea"/>
            </a:endParaRPr>
          </a:p>
          <a:p>
            <a:pPr marL="0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b="0" i="0">
              <a:solidFill>
                <a:srgbClr val="1A1C1F"/>
              </a:solidFill>
              <a:latin typeface="+mn-ea"/>
              <a:cs typeface="+mn-ea"/>
            </a:endParaRPr>
          </a:p>
          <a:p>
            <a:pPr marL="0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b="0" i="0">
              <a:solidFill>
                <a:srgbClr val="1A1C1F"/>
              </a:solidFill>
              <a:latin typeface="+mn-ea"/>
              <a:cs typeface="+mn-ea"/>
            </a:endParaRPr>
          </a:p>
          <a:p>
            <a:pPr marL="0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b="0" i="0">
              <a:solidFill>
                <a:srgbClr val="1A1C1F"/>
              </a:solidFill>
              <a:latin typeface="+mn-ea"/>
              <a:cs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082030" y="3286760"/>
            <a:ext cx="2781935" cy="149161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019165" y="3410585"/>
            <a:ext cx="2849873" cy="1461770"/>
            <a:chOff x="1251043" y="1549601"/>
            <a:chExt cx="2573023" cy="2201697"/>
          </a:xfrm>
        </p:grpSpPr>
        <p:grpSp>
          <p:nvGrpSpPr>
            <p:cNvPr id="22" name="组合 21"/>
            <p:cNvGrpSpPr/>
            <p:nvPr/>
          </p:nvGrpSpPr>
          <p:grpSpPr>
            <a:xfrm>
              <a:off x="1251043" y="1549601"/>
              <a:ext cx="2502336" cy="1011081"/>
              <a:chOff x="1607478" y="2813573"/>
              <a:chExt cx="2668885" cy="2007992"/>
            </a:xfrm>
          </p:grpSpPr>
          <p:sp>
            <p:nvSpPr>
              <p:cNvPr id="23" name="文本框 2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607478" y="4235411"/>
                <a:ext cx="2668885" cy="58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矩形 23"/>
              <p:cNvSpPr/>
              <p:nvPr>
                <p:custDataLst>
                  <p:tags r:id="rId7"/>
                </p:custDataLst>
              </p:nvPr>
            </p:nvSpPr>
            <p:spPr>
              <a:xfrm>
                <a:off x="2046941" y="2813573"/>
                <a:ext cx="1720282" cy="965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直接连接符 24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2685042" y="3889568"/>
                <a:ext cx="586432" cy="0"/>
              </a:xfrm>
              <a:prstGeom prst="line">
                <a:avLst/>
              </a:prstGeom>
              <a:noFill/>
              <a:ln w="38100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6" name="文本框 25"/>
            <p:cNvSpPr txBox="1"/>
            <p:nvPr>
              <p:custDataLst>
                <p:tags r:id="rId9"/>
              </p:custDataLst>
            </p:nvPr>
          </p:nvSpPr>
          <p:spPr>
            <a:xfrm>
              <a:off x="1312034" y="2146412"/>
              <a:ext cx="2512032" cy="160488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indent="0" algn="l"/>
              <a:r>
                <a:rPr lang="en-US" altLang="zh-CN" sz="1000">
                  <a:solidFill>
                    <a:srgbClr val="1A1C1F"/>
                  </a:solidFill>
                  <a:latin typeface="+mn-ea"/>
                  <a:cs typeface="+mn-ea"/>
                  <a:sym typeface="+mn-ea"/>
                </a:rPr>
                <a:t>     </a:t>
              </a:r>
              <a:r>
                <a:rPr lang="zh-CN" altLang="en-US" sz="1000">
                  <a:solidFill>
                    <a:srgbClr val="1A1C1F"/>
                  </a:solidFill>
                  <a:latin typeface="+mn-ea"/>
                  <a:cs typeface="+mn-ea"/>
                  <a:sym typeface="+mn-ea"/>
                </a:rPr>
                <a:t>已实现本地 Web UI、多轮 AI 需求共创、三档生成质量控制、微信小程序页面与组件代码生成、中间产物留存、文件清单校验、页面路径/事件/组件/云函数一致性检查与自动重试。系统已生扫雷小游戏等示例项目。</a:t>
              </a:r>
              <a:endParaRPr lang="zh-CN" altLang="en-US" sz="1000" b="0" i="0">
                <a:solidFill>
                  <a:srgbClr val="1A1C1F"/>
                </a:solidFill>
                <a:latin typeface="+mn-ea"/>
                <a:cs typeface="+mn-ea"/>
              </a:endParaRPr>
            </a:p>
            <a:p>
              <a:pPr algn="ctr"/>
              <a:endParaRPr lang="zh-CN" altLang="en-US" b="0" i="0">
                <a:solidFill>
                  <a:srgbClr val="1A1C1F"/>
                </a:solidFill>
                <a:latin typeface="+mn-ea"/>
                <a:cs typeface="+mn-ea"/>
              </a:endParaRPr>
            </a:p>
            <a:p>
              <a:pPr algn="ctr"/>
              <a:endParaRPr lang="zh-CN" altLang="en-US" dirty="0">
                <a:solidFill>
                  <a:prstClr val="black"/>
                </a:solidFill>
                <a:latin typeface="等线" panose="02010600030101010101" charset="-122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644005" y="3371850"/>
            <a:ext cx="16586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目前实现功能</a:t>
            </a:r>
            <a:endParaRPr lang="zh-CN" altLang="en-US" sz="1600"/>
          </a:p>
        </p:txBody>
      </p:sp>
      <p:sp>
        <p:nvSpPr>
          <p:cNvPr id="39" name="圆角矩形 38"/>
          <p:cNvSpPr/>
          <p:nvPr/>
        </p:nvSpPr>
        <p:spPr>
          <a:xfrm>
            <a:off x="9174480" y="3286760"/>
            <a:ext cx="2781935" cy="149161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111615" y="3410585"/>
            <a:ext cx="2849873" cy="1461770"/>
            <a:chOff x="1251043" y="1549601"/>
            <a:chExt cx="2573023" cy="2201697"/>
          </a:xfrm>
        </p:grpSpPr>
        <p:grpSp>
          <p:nvGrpSpPr>
            <p:cNvPr id="41" name="组合 40"/>
            <p:cNvGrpSpPr/>
            <p:nvPr/>
          </p:nvGrpSpPr>
          <p:grpSpPr>
            <a:xfrm>
              <a:off x="1251043" y="1549601"/>
              <a:ext cx="2502336" cy="1011081"/>
              <a:chOff x="1607478" y="2813573"/>
              <a:chExt cx="2668885" cy="2007992"/>
            </a:xfrm>
          </p:grpSpPr>
          <p:sp>
            <p:nvSpPr>
              <p:cNvPr id="42" name="文本框 4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07478" y="4235411"/>
                <a:ext cx="2668885" cy="58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矩形 42"/>
              <p:cNvSpPr/>
              <p:nvPr>
                <p:custDataLst>
                  <p:tags r:id="rId11"/>
                </p:custDataLst>
              </p:nvPr>
            </p:nvSpPr>
            <p:spPr>
              <a:xfrm>
                <a:off x="2046941" y="2813573"/>
                <a:ext cx="1720282" cy="965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4" name="直接连接符 43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2685042" y="3889568"/>
                <a:ext cx="586432" cy="0"/>
              </a:xfrm>
              <a:prstGeom prst="line">
                <a:avLst/>
              </a:prstGeom>
              <a:noFill/>
              <a:ln w="38100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45" name="文本框 44"/>
            <p:cNvSpPr txBox="1"/>
            <p:nvPr>
              <p:custDataLst>
                <p:tags r:id="rId13"/>
              </p:custDataLst>
            </p:nvPr>
          </p:nvSpPr>
          <p:spPr>
            <a:xfrm>
              <a:off x="1312034" y="2146412"/>
              <a:ext cx="2512032" cy="160488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indent="0" algn="l"/>
              <a:r>
                <a:rPr lang="en-US" altLang="zh-CN" sz="1000">
                  <a:solidFill>
                    <a:srgbClr val="1A1C1F"/>
                  </a:solidFill>
                  <a:latin typeface="+mn-ea"/>
                  <a:cs typeface="+mn-ea"/>
                  <a:sym typeface="+mn-ea"/>
                </a:rPr>
                <a:t>    </a:t>
              </a:r>
              <a:r>
                <a:rPr lang="zh-CN" altLang="en-US" sz="1000">
                  <a:solidFill>
                    <a:srgbClr val="1A1C1F"/>
                  </a:solidFill>
                  <a:latin typeface="+mn-ea"/>
                  <a:cs typeface="+mn-ea"/>
                  <a:sym typeface="+mn-ea"/>
                </a:rPr>
                <a:t>后续计划支持历史任务管理、已有小程序项目的增量生成、项目级自动修复、更多模型切换、真实预览部署流程，以及更完善的云函数和数据库自动配置能力。</a:t>
              </a:r>
              <a:endParaRPr lang="zh-CN" altLang="en-US" sz="1000" b="0" i="0">
                <a:solidFill>
                  <a:srgbClr val="1A1C1F"/>
                </a:solidFill>
                <a:latin typeface="+mn-ea"/>
                <a:cs typeface="+mn-ea"/>
              </a:endParaRPr>
            </a:p>
            <a:p>
              <a:pPr indent="0" algn="l"/>
              <a:endParaRPr lang="zh-CN" altLang="en-US" b="0" i="0">
                <a:solidFill>
                  <a:srgbClr val="1A1C1F"/>
                </a:solidFill>
                <a:latin typeface="+mn-ea"/>
                <a:cs typeface="+mn-ea"/>
              </a:endParaRPr>
            </a:p>
            <a:p>
              <a:pPr algn="ctr"/>
              <a:endParaRPr lang="zh-CN" altLang="en-US" dirty="0">
                <a:solidFill>
                  <a:prstClr val="black"/>
                </a:solidFill>
                <a:latin typeface="等线" panose="02010600030101010101" charset="-122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9736455" y="3371850"/>
            <a:ext cx="16586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待改进问题</a:t>
            </a:r>
            <a:endParaRPr lang="zh-CN" altLang="en-US" sz="1600"/>
          </a:p>
        </p:txBody>
      </p:sp>
      <p:sp>
        <p:nvSpPr>
          <p:cNvPr id="47" name="圆角矩形 46"/>
          <p:cNvSpPr/>
          <p:nvPr/>
        </p:nvSpPr>
        <p:spPr>
          <a:xfrm>
            <a:off x="6301105" y="4997450"/>
            <a:ext cx="5582285" cy="154114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6936740" y="5094605"/>
            <a:ext cx="4064000" cy="35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>
                <a:solidFill>
                  <a:schemeClr val="accent1">
                    <a:lumMod val="75000"/>
                  </a:schemeClr>
                </a:solidFill>
                <a:sym typeface="+mn-ea"/>
              </a:rPr>
              <a:t>创新性与实用性特点</a:t>
            </a:r>
            <a:endParaRPr lang="zh-CN" altLang="en-US" sz="1600" b="0" i="0"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 sz="1600"/>
          </a:p>
        </p:txBody>
      </p:sp>
      <p:sp>
        <p:nvSpPr>
          <p:cNvPr id="63" name="文本框 62"/>
          <p:cNvSpPr txBox="1"/>
          <p:nvPr/>
        </p:nvSpPr>
        <p:spPr>
          <a:xfrm>
            <a:off x="6301105" y="5557520"/>
            <a:ext cx="5582285" cy="923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srgbClr val="1A1C1F"/>
                </a:solidFill>
                <a:latin typeface="+mn-ea"/>
                <a:cs typeface="+mn-ea"/>
                <a:sym typeface="+mn-ea"/>
              </a:rPr>
              <a:t>    </a:t>
            </a:r>
            <a:r>
              <a:rPr lang="zh-CN" altLang="en-US" sz="1000">
                <a:solidFill>
                  <a:srgbClr val="1A1C1F"/>
                </a:solidFill>
                <a:latin typeface="+mn-ea"/>
                <a:cs typeface="+mn-ea"/>
                <a:sym typeface="+mn-ea"/>
              </a:rPr>
              <a:t>作品采用多 Agent 分工协作机制，将需求分析、架构设计、上下文整理和代码生成拆分为可追踪流程；通过页面四件套成组生成和一致性校验机制，减少生成代码中的路径、事件和组件引用错误。作品可用于课程实践、竞赛原型、校园服务工具快速搭建，具有较强的实用价值和二次开发空间。</a:t>
            </a:r>
            <a:endParaRPr lang="zh-CN" altLang="en-US" sz="1000">
              <a:solidFill>
                <a:srgbClr val="1A1C1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64" name="直接连接符 63"/>
          <p:cNvCxnSpPr/>
          <p:nvPr>
            <p:custDataLst>
              <p:tags r:id="rId14"/>
            </p:custDataLst>
          </p:nvPr>
        </p:nvCxnSpPr>
        <p:spPr>
          <a:xfrm>
            <a:off x="8542812" y="5507658"/>
            <a:ext cx="852805" cy="9525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WPS 演示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</vt:lpstr>
      <vt:lpstr>微软雅黑</vt:lpstr>
      <vt:lpstr>Arial Black</vt:lpstr>
      <vt:lpstr>-apple-system</vt:lpstr>
      <vt:lpstr>Segoe Print</vt:lpstr>
      <vt:lpstr>等线 Light</vt:lpstr>
      <vt:lpstr>等线</vt:lpstr>
      <vt:lpstr>思源黑体</vt:lpstr>
      <vt:lpstr>Times New Roman</vt:lpstr>
      <vt:lpstr>楷体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Yuqi Fu</dc:creator>
  <cp:lastModifiedBy>林宇奇</cp:lastModifiedBy>
  <cp:revision>6</cp:revision>
  <dcterms:created xsi:type="dcterms:W3CDTF">2023-08-09T12:44:00Z</dcterms:created>
  <dcterms:modified xsi:type="dcterms:W3CDTF">2026-05-07T13:50:25Z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6B5A40A05EC842F0A928B6E44B9FFE8E_12</vt:lpwstr>
  </property>
</Properties>
</file>